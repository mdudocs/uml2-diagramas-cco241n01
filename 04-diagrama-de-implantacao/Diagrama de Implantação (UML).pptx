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DUDA abre a apresentação. Fala sugerida: "Boa noite. Nosso grupo ficou com o diagrama de implantação, ou deployment diagram. Ele é um dos diagramas estruturais da UML 2, e é o único que fala sobre hardware. Enquanto os diagramas que a gente já viu descrevem o software, esse aqui descreve onde o software mora." Não gaste mais de 30 segundos aqui. Vá direto para o roteiro.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DUDA. Fala sugerida: "Definindo: o diagrama de implantação mostra a arquitetura física do sistema. Ele responde onde o software é instalado, em que ambiente ele roda e como as máquinas conversam entre si. A frase que resume tudo é essa: os outros diagramas descrevem o software; o de implantação descreve onde esse software mora. É o único diagrama da UML que fala de hardware — servidor, celular, roteador, máquina virtual." Se alguém perguntar a fonte: é um dos diagramas estruturais da UML 2.5, especificação da OMG.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DUDA. Fala sugerida: "Para que ele serve na prática? Existem quatro perguntas que nenhum outro diagrama da UML responde. Onde cada parte é instalada. O que exatamente é instalado — e aqui já vale adiantar: não é código-fonte, é o arquivo gerado, o .jar, o .apk. Como essas máquinas conversam, com qual protocolo. E quantas instâncias existem de cada uma — que é como o diagrama mostra escala e ponto único de falha." Não leia os quatro cartões inteiros. Leia as perguntas e comente uma ou duas.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DUDA — último slide do bloco 1. Fala sugerida: "Em que fase ele entra? Ele é um diagrama de projeto, não de levantamento. Enquanto Caso de Uso aparece nos requisitos e Classe e Sequência na análise, o de implantação só faz sentido quando já existe uma decisão de arquitetura. E ele é um dos poucos que continua sendo usado depois que o sistema está no ar, como documentação da operação. Três momentos: ao definir a arquitetura, ao documentar o sistema e ao planejar o deploy. Um detalhe honesto: se o sistema roda numa máquina só, esse diagrama quase não agrega. Ele brilha em sistema distribuído, web, mobile e nuvem." Feche passando para o João: "Agora o João vai mostrar os símbolos."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abre o bloco 2. Fala sugerida: "Tudo no diagrama de implantação gira em torno de três coisas: nó, artefato e conexão. Começo pelo nó. Nó é uma caixa que representa um lugar onde algo roda, e ele vem em dois sabores. O «device» é o recurso físico: servidor, celular, roteador — e vale também para máquina virtual na nuvem. O «executionEnvironment» é o ambiente de software que hospeda outro software: a JVM, o Docker, o Tomcat, o banco, o navegador. E o detalhe que importa: nó se aninha. Quando eu desenho a caixa do Docker dentro da caixa do servidor, estou dizendo que o Docker roda naquele servidor. É assim que o diagrama mostra a pilha inteira." Aponte para as duas caixas de exemplo enquanto fala. Se alguém perguntar pela caixa 3D: a UML 2 aceita tanto o cubo em perspectiva quanto o retângulo simples com o estereótipo — usamos o retângulo por clareza.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JOÃO. Fala sugerida: "Segundo elemento: o artefato. E aqui mora o erro mais comum. Artefato não é classe, não é código-fonte. É o resultado do build — o arquivo que alguém de fato copia para dentro da máquina. O .jar, o .apk, o script .sql do banco, a imagem do container, até o arquivo de configuração. Na notação, o artefato é uma caixa com «artifact» desenhada dentro do nó onde ele é instalado. E existe uma ligação com o resto da UML: diz-se que o artefato manifesta um componente. O api-pedidos.jar é a forma física do componente lógico 'Pedidos'. Isso se marca com uma seta tracejada «manifest», e é o que conecta este diagrama ao de componentes." Se o tempo apertar, corte a lista de exemplos e fique só no .jar e no .apk.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JOÃO. Fala sugerida: "Terceiro elemento: a conexão entre os nós, o caminho de comunicação. Reparem em três coisas nesta figura. Primeira: a linha é sólida e não tem ponta de seta. Isso é de propósito — ela diz que os dois nós conversam, não quem chamou quem. Quem chama quem é assunto do diagrama de sequência. Segunda: o estereótipo entre as aspas angulares diz o protocolo. «HTTPS», «JDBC», «TCP/IP». Sem isso, a linha só informa que existe rede ali. Terceira: os números nas pontas são a multiplicidade. Aqui, 1..* notebooks para 1 servidor. E é nesse número que aparece o ponto único de falha — se é 1 servidor para muitos clientes, esse servidor é o gargalo. E se a seta for tracejada, não é comunicação: é dependência, com «deploy» ou «manifest»." Depois deste slide vem o quadro-resumo. Passe rápido por ele e entregue para o Lucas.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— último slide do bloco 2. Fala sugerida: "Esse é o resumo. Não precisa decorar: são três elementos e uma linha. Nó, que é onde roda; artefato, que é o que é instalado; e o caminho de comunicação, que é como os nós se falam. Aninhamento, multiplicidade e seta tracejada são detalhes que se leem naturalmente depois. Com isso na cabeça, o Lucas vai mostrar um diagrama que a gente desenhou." Não leia a tabela linha por linha. Dê 10 segundos para a turma correr os olhos e passe adiante.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 abre o bloco 3. Fala sugerida: "Para o exemplo, a gente inventou um sistema simples: o FametroFood, um app de delivery. O cliente pede pelo celular. O restaurante recebe os pedidos num painel, num tablet, sem instalar nada — é web. No meio existe uma API que guarda pedido, valida usuário e avisa o restaurante. E o pagamento é feito por um serviço externo, que não é nosso. Isso aqui é o domínio, e até aqui um diagrama de caso de uso já daria conta. A pergunta do diagrama de implantação é outra: em que máquinas cada uma dessas partes roda de verdade? É o próximo slide." Fale rápido — 45 segundos. O peso do bloco está no diagrama.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 — este é o slide central da apresentação. Reserve ~2 minutos. Roteiro de fala, na ordem: 1) "Cinco nós. À esquerda, os dois clientes: o smartphone do cliente e o tablet do restaurante. No centro, o servidor de aplicação. À direita, o banco de dados e o gateway de pagamento." 2) "Dentro de cada «device» tem um «executionEnvironment». No celular, o Android. No tablet, o navegador — reparem que o restaurante não instala nada. No servidor, a JVM com Spring Boot. E o PostgreSQL também é um ambiente de execução, porque ele hospeda e executa o schema." 3) "Dentro dos ambientes estão os artefatos: o FametroFood.apk, o painel-web.js, o api-pedidos.jar, o auth-service.jar, o schema-pedidos.sql. São os arquivos que alguém de fato instala." 4) "As linhas são caminhos de comunicação, e cada uma leva o protocolo no estereótipo. O celular fala REST sobre HTTPS. O painel do restaurante usa WebSocket, porque precisa receber o pedido na hora. O servidor fala JDBC com o banco e HTTPS com o gateway — a linha tracejada e a caixa tracejada marcam que o gateway é de terceiros, não é nosso." 5) O gancho para o próximo slide: "E tem uma coisa que o diagrama entrega de graça, olhem as multiplicidades..." Se perguntarem por que o servidor de banco é um «device» separado: porque ele roda em outra máquina, com outro ciclo de vida. Se estivesse na mesma EC2, seria uma caixa aninhada dentro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LUCAS. Fala sugerida: "Se vocês tiverem que ler um diagrama desses numa prova ou num projeto, é sempre a mesma sequência de quatro passos: conte os nós, desça um nível para ver os ambientes de execução, olhe os artefatos e siga as linhas. E o passo quatro já revela uma decisão de arquitetura: nenhum cliente fala direto com o banco. Tudo passa pelo servidor de aplicação. Agora o ponto que eu acho mais interessante. Olhem as multiplicidades: são 1..* clientes para 1 servidor de aplicação. Isso quer dizer que aquele servidor é um ponto único de falha — se ele cair, o app inteiro para. Ninguém escreveu isso no diagrama; o diagrama só mostrou, e a conversa sobre redundância nasce aí, antes do sistema estar no ar. É para isso que esse diagrama serve." Esse é o ponto alto do bloco. Pause depois de dizer "ponto único de falha".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LUCAS. Fala sugerida: "Comparando com os três que a gente já viu em aula. Caso de uso responde quem usa e para quê. Classe responde como os dados se organizam. Sequência responde em que ordem as mensagens acontecem. E implantação responde onde o software roda de verdade. Em que ele se PARECE: com o de classe, porque os dois são estruturais e estáticos — mostram uma fotografia do sistema, não uma linha do tempo. E a gramática é a mesma: caixas, linhas, estereótipos, multiplicidade. Em que ele se DIFERENCIA: nos outros três, as caixas são conceitos do software — ator, classe, objeto. Aqui a caixa é uma máquina e o que está dentro dela é um arquivo. É o único que sai do mundo lógico. Uma forma de guardar: caso de uso é o 'quem', classe é o 'o quê', sequência é o 'quando', implantação é o 'onde'." Essa última frase é a que a turma leva para casa. Diga devagar.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LUCAS. Fala sugerida: "Um aviso, porque essa é a confusão mais comum e costuma cair em prova: componentes e implantação não são a mesma coisa. Componentes mostra as peças lógicas do software e as interfaces entre elas — de que módulos o sistema é feito. Implantação mostra as máquinas e os arquivos instalados nelas — onde esses módulos rodam. E os dois se encontram no artefato, que é o elo. O componente lógico 'Pedidos' é manifestado pelo artefato api-pedidos.jar, e esse artefato é implantado no servidor de aplicação. Componente é a ideia, artefato é o arquivo, nó é o lugar." Se o professor perguntar sobre os 4+1 de Kruchten: componentes é a visão de implementação, implantação é a visão física (deployment view).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 fecha. Fala sugerida: "Fechando, três coisas para levar. Primeira: são só três elementos — nó, artefato e caminho de comunicação. O resto é detalhe de notação. Segunda: ele é estrutural e físico, então complementa classe e componentes, não substitui nenhum deles. Terceira: ele entra no projeto da arquitetura e continua vivo depois, como documentação de quem opera o sistema. Obrigado. Perguntas?" Perguntas prováveis e respostas curtas: — "Precisa desenhar a caixa em 3D?" Não. A UML 2 aceita o cubo em perspectiva e o retângulo com o estereótipo. O retângulo é mais legível e é o que as ferramentas modernas usam. — "Máquina virtual e container são «device» ou «executionEnvironment»?" Na prática, a VM costuma ser modelada como «device» (ela se comporta como uma máquina) e o container como «executionEnvironment», porque ele hospeda artefatos. A UML permite os dois; o importante é ser coerente no diagrama inteiro. — "Dá para mostrar o mesmo artefato em dois nós?" Dá, e é exatamente assim que se representa réplica e balanceamento de carga. — "Qual ferramenta usar?" draw.io e Lucidchart têm a biblioteca UML de deployment pronta.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200" kern="0" dirty="0">
                <a:solidFill>
                  <a:srgbClr val="5FC0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UML 2 · DIAGRAMA ESTRUTURAL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5062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de</a:t>
            </a:r>
            <a:endParaRPr lang="en-US" sz="5200" dirty="0"/>
          </a:p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Implantação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2677160"/>
            <a:ext cx="10883392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«deployment diagram»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5509260"/>
            <a:ext cx="2232273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50" kern="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5755640"/>
            <a:ext cx="223227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Duda · João · Lucas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81020" y="5582920"/>
            <a:ext cx="21981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endParaRPr lang="en-US" sz="1300" dirty="0"/>
          </a:p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Centro Universitário Fametro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6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81175"/>
            <a:ext cx="10883392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200" kern="0" dirty="0">
                <a:solidFill>
                  <a:srgbClr val="D6EF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DEFINIÇÃO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218055"/>
            <a:ext cx="10883392" cy="2040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1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diagrama de implantação mostra a </a:t>
            </a:r>
            <a:r>
              <a:rPr lang="en-US" sz="31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arquitetura física</a:t>
            </a:r>
            <a:r>
              <a:rPr lang="en-US" sz="31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um sistema: em que </a:t>
            </a:r>
            <a:r>
              <a:rPr lang="en-US" sz="31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máquinas</a:t>
            </a:r>
            <a:r>
              <a:rPr lang="en-US" sz="31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software é instalado, em que </a:t>
            </a:r>
            <a:r>
              <a:rPr lang="en-US" sz="31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ambientes de execução</a:t>
            </a:r>
            <a:r>
              <a:rPr lang="en-US" sz="31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ele roda e por quais </a:t>
            </a:r>
            <a:r>
              <a:rPr lang="en-US" sz="31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conexões</a:t>
            </a:r>
            <a:r>
              <a:rPr lang="en-US" sz="31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essas máquinas conversam.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12800" y="4487545"/>
            <a:ext cx="10883392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D6EF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o único diagrama da UML que fala de hardware. Os outros descrevem o software; este descreve onde esse software mora depois de pronto.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50" kern="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PARA QUE SERVE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59180"/>
            <a:ext cx="10883392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Quatro perguntas que só ele responde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15975" y="1769111"/>
            <a:ext cx="5187950" cy="1861820"/>
          </a:xfrm>
          <a:prstGeom prst="roundRect">
            <a:avLst>
              <a:gd name="adj" fmla="val 4604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74216"/>
            <a:ext cx="492107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1080" y="2248536"/>
            <a:ext cx="4921072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cada parte do sistema é instalada?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21080" y="2626361"/>
            <a:ext cx="492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nós: servidores, celulares, máquinas virtuais, containers.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8075" y="1769111"/>
            <a:ext cx="5187950" cy="1861820"/>
          </a:xfrm>
          <a:prstGeom prst="roundRect">
            <a:avLst>
              <a:gd name="adj" fmla="val 4604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3180" y="1974216"/>
            <a:ext cx="492107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93180" y="2248536"/>
            <a:ext cx="492107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exatamente é implantado em cada nó?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93180" y="2927986"/>
            <a:ext cx="492107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artefatos: os arquivos reais, como .jar, .apk, .sql, imagem de container.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815080"/>
            <a:ext cx="5187950" cy="1560195"/>
          </a:xfrm>
          <a:prstGeom prst="roundRect">
            <a:avLst>
              <a:gd name="adj" fmla="val 5495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4020186"/>
            <a:ext cx="492107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1080" y="4294505"/>
            <a:ext cx="4921072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os nós conversam entre si?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21080" y="4672330"/>
            <a:ext cx="492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caminhos de comunicação e o protocolo de cada um.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8075" y="3815080"/>
            <a:ext cx="5187950" cy="1560195"/>
          </a:xfrm>
          <a:prstGeom prst="roundRect">
            <a:avLst>
              <a:gd name="adj" fmla="val 5495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3180" y="4020186"/>
            <a:ext cx="492107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3180" y="4294505"/>
            <a:ext cx="4921072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Quantas instâncias existem de cada nó?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93180" y="4672330"/>
            <a:ext cx="492107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multiplicidade, que revela escala, redundância e ponto único de falha.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50" kern="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QUANDO USAR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59180"/>
            <a:ext cx="10883392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 entra tarde no projeto — e fica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15975" y="1769111"/>
            <a:ext cx="2273300" cy="1009015"/>
          </a:xfrm>
          <a:prstGeom prst="roundRect">
            <a:avLst>
              <a:gd name="adj" fmla="val 7237"/>
            </a:avLst>
          </a:prstGeom>
          <a:solidFill>
            <a:srgbClr val="E2E4DE"/>
          </a:solidFill>
          <a:ln w="6350">
            <a:solidFill>
              <a:srgbClr val="D0D4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0280" y="1923416"/>
            <a:ext cx="202363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8A93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Requisitos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0280" y="2212341"/>
            <a:ext cx="202363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A93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Caso de Uso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94050" y="2197418"/>
            <a:ext cx="279400" cy="152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78225" y="1769111"/>
            <a:ext cx="2273300" cy="1009015"/>
          </a:xfrm>
          <a:prstGeom prst="roundRect">
            <a:avLst>
              <a:gd name="adj" fmla="val 7237"/>
            </a:avLst>
          </a:prstGeom>
          <a:solidFill>
            <a:srgbClr val="E2E4DE"/>
          </a:solidFill>
          <a:ln w="6350">
            <a:solidFill>
              <a:srgbClr val="D0D4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32530" y="1923416"/>
            <a:ext cx="202363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8A93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732530" y="2212341"/>
            <a:ext cx="202363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A93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Classe, Sequência</a:t>
            </a:r>
            <a:endParaRPr lang="en-US" sz="1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56300" y="2197418"/>
            <a:ext cx="279400" cy="152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40475" y="1769111"/>
            <a:ext cx="2273300" cy="1009015"/>
          </a:xfrm>
          <a:prstGeom prst="roundRect">
            <a:avLst>
              <a:gd name="adj" fmla="val 7237"/>
            </a:avLst>
          </a:prstGeom>
          <a:solidFill>
            <a:srgbClr val="1F6F6B"/>
          </a:solidFill>
          <a:ln w="6350">
            <a:solidFill>
              <a:srgbClr val="1F6F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94780" y="1923416"/>
            <a:ext cx="202363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Projeto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4780" y="2212341"/>
            <a:ext cx="202363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6EF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Implantação, Componentes</a:t>
            </a:r>
            <a:endParaRPr lang="en-US" sz="12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8550" y="2197418"/>
            <a:ext cx="279400" cy="1524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02725" y="1769111"/>
            <a:ext cx="2273300" cy="1009015"/>
          </a:xfrm>
          <a:prstGeom prst="roundRect">
            <a:avLst>
              <a:gd name="adj" fmla="val 7237"/>
            </a:avLst>
          </a:prstGeom>
          <a:solidFill>
            <a:srgbClr val="1F6F6B"/>
          </a:solidFill>
          <a:ln w="6350">
            <a:solidFill>
              <a:srgbClr val="1F6F6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257030" y="1923416"/>
            <a:ext cx="202363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Operação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257030" y="2212341"/>
            <a:ext cx="2023631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6EF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Implantação (documentação)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5975" y="3038475"/>
            <a:ext cx="3397250" cy="1487170"/>
          </a:xfrm>
          <a:prstGeom prst="roundRect">
            <a:avLst>
              <a:gd name="adj" fmla="val 5764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21080" y="3243580"/>
            <a:ext cx="307665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Ao definir a arquitetura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21080" y="3573780"/>
            <a:ext cx="307665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de codificar, para decidir o que roda onde e dimensionar a infraestrutura que vai ser contratada.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4397375" y="3038475"/>
            <a:ext cx="3397250" cy="1487170"/>
          </a:xfrm>
          <a:prstGeom prst="roundRect">
            <a:avLst>
              <a:gd name="adj" fmla="val 5764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602480" y="3243580"/>
            <a:ext cx="307665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Ao documentar o sistema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602480" y="3573780"/>
            <a:ext cx="307665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que quem entra no time entenda a topologia sem precisar abrir o servidor.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7978775" y="3038475"/>
            <a:ext cx="3397250" cy="1487170"/>
          </a:xfrm>
          <a:prstGeom prst="roundRect">
            <a:avLst>
              <a:gd name="adj" fmla="val 5764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183880" y="3243580"/>
            <a:ext cx="307665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Ao planejar o deploy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183880" y="3573780"/>
            <a:ext cx="307665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combinar ambientes, escala e redundância com quem cuida da operação.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12800" y="6268721"/>
            <a:ext cx="9436715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útil sobretudo em sistemas distribuídos, web, mobile e em nuvem. Num programa que roda numa máquina só, ele quase não agrega.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50" kern="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NOTAÇÃO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59182"/>
            <a:ext cx="10883392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nó: a caixa que representa um lugar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15975" y="1743711"/>
            <a:ext cx="5175250" cy="2709545"/>
          </a:xfrm>
          <a:prstGeom prst="roundRect">
            <a:avLst>
              <a:gd name="adj" fmla="val 3164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48814"/>
            <a:ext cx="49079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«device»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91714"/>
            <a:ext cx="490799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recurso de computação físico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27430" y="2682239"/>
            <a:ext cx="4752340" cy="698500"/>
          </a:xfrm>
          <a:prstGeom prst="roundRect">
            <a:avLst>
              <a:gd name="adj" fmla="val 6364"/>
            </a:avLst>
          </a:prstGeom>
          <a:solidFill>
            <a:srgbClr val="EDEEE9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5540" y="2800350"/>
            <a:ext cx="4651604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«device»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5540" y="3034032"/>
            <a:ext cx="46516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Servidor de Aplicação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1080" y="3501389"/>
            <a:ext cx="490799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máquina onde algo roda: servidor, desktop, celular, tablet, roteador, impressora — e também uma máquina virtual na nuvem.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0775" y="1743711"/>
            <a:ext cx="5175250" cy="2709545"/>
          </a:xfrm>
          <a:prstGeom prst="roundRect">
            <a:avLst>
              <a:gd name="adj" fmla="val 3164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5880" y="1948814"/>
            <a:ext cx="49079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«executionEnvironment»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5880" y="2291714"/>
            <a:ext cx="490799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ambiente de software que executa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12230" y="2682239"/>
            <a:ext cx="4752340" cy="698500"/>
          </a:xfrm>
          <a:prstGeom prst="roundRect">
            <a:avLst>
              <a:gd name="adj" fmla="val 6364"/>
            </a:avLst>
          </a:prstGeom>
          <a:solidFill>
            <a:srgbClr val="EDEEE9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0340" y="2800350"/>
            <a:ext cx="4651604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«executionEnvironment»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0340" y="3034032"/>
            <a:ext cx="46516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24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5880" y="3501389"/>
            <a:ext cx="490799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software que hospeda outro software: JVM, Docker, Tomcat, Node.js, um SGBD, um navegador, um sistema operacional.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800" y="4685032"/>
            <a:ext cx="10566400" cy="1170940"/>
          </a:xfrm>
          <a:prstGeom prst="roundRect">
            <a:avLst>
              <a:gd name="adj" fmla="val 7592"/>
            </a:avLst>
          </a:prstGeom>
          <a:solidFill>
            <a:srgbClr val="0F1E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862832"/>
            <a:ext cx="1046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5FC0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dois são nós — e nós se aninham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180332"/>
            <a:ext cx="10464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Desenhar uma caixa dentro da outra é como o diagrama diz “o Docker roda naquele servidor”. Sem o estereótipo, a caixa é apenas «node», o termo genérico.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50" kern="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NOTAÇÃO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59182"/>
            <a:ext cx="10883392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artefato: o arquivo que é instalado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15975" y="1743711"/>
            <a:ext cx="5175250" cy="2477770"/>
          </a:xfrm>
          <a:prstGeom prst="roundRect">
            <a:avLst>
              <a:gd name="adj" fmla="val 3460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48814"/>
            <a:ext cx="49079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«artifact»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27430" y="2298064"/>
            <a:ext cx="4752340" cy="698500"/>
          </a:xfrm>
          <a:prstGeom prst="roundRect">
            <a:avLst>
              <a:gd name="adj" fmla="val 6364"/>
            </a:avLst>
          </a:prstGeom>
          <a:solidFill>
            <a:srgbClr val="EDEEE9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5540" y="2416175"/>
            <a:ext cx="4651604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«artifact»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5540" y="2649857"/>
            <a:ext cx="46516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F1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api-pedidos.jar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1080" y="3117214"/>
            <a:ext cx="490799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artefato não é código-fonte nem classe: é o resultado concreto do build, o arquivo que alguém copia para dentro do nó. Ele é desenhado dentro do nó em que é implantado.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00775" y="1743711"/>
            <a:ext cx="5175250" cy="2477770"/>
          </a:xfrm>
          <a:prstGeom prst="roundRect">
            <a:avLst>
              <a:gd name="adj" fmla="val 3460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5880" y="1948814"/>
            <a:ext cx="490799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Exemplos que vocês já viram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5880" y="2322196"/>
            <a:ext cx="12319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.jar / .war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8580" y="2317114"/>
            <a:ext cx="358681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aplicação Java empacotada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5880" y="2618107"/>
            <a:ext cx="12319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.apk / .ipa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8580" y="2613025"/>
            <a:ext cx="358681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Android ou iOS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5880" y="2914014"/>
            <a:ext cx="12319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.exe / .dll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8580" y="2908936"/>
            <a:ext cx="358681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executável e biblioteca Windows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5880" y="3209925"/>
            <a:ext cx="12319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.sql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8580" y="3204846"/>
            <a:ext cx="358681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script que cria o banco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5880" y="3505836"/>
            <a:ext cx="12319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image:tag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8580" y="3500757"/>
            <a:ext cx="358681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imagem de container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5880" y="3801746"/>
            <a:ext cx="12319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.yml / .env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8580" y="3796664"/>
            <a:ext cx="358681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arquivos de configuração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2800" y="4453257"/>
            <a:ext cx="10566400" cy="1145540"/>
          </a:xfrm>
          <a:prstGeom prst="roundRect">
            <a:avLst>
              <a:gd name="adj" fmla="val 5543"/>
            </a:avLst>
          </a:prstGeom>
          <a:solidFill>
            <a:srgbClr val="EDEEE9"/>
          </a:solidFill>
          <a:ln/>
        </p:spPr>
      </p:sp>
      <p:sp>
        <p:nvSpPr>
          <p:cNvPr id="25" name="Shape 23"/>
          <p:cNvSpPr/>
          <p:nvPr/>
        </p:nvSpPr>
        <p:spPr>
          <a:xfrm>
            <a:off x="831850" y="4453257"/>
            <a:ext cx="0" cy="1145540"/>
          </a:xfrm>
          <a:prstGeom prst="line">
            <a:avLst/>
          </a:prstGeom>
          <a:noFill/>
          <a:ln w="38100">
            <a:solidFill>
              <a:srgbClr val="A84B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618357"/>
            <a:ext cx="1042817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Manifestação: a ponte com o resto da UML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935857"/>
            <a:ext cx="1042817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artefato </a:t>
            </a:r>
            <a:r>
              <a:rPr lang="en-US" sz="1400" b="1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manifesta</a:t>
            </a: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 componente: o </a:t>
            </a:r>
            <a:r>
              <a:rPr lang="en-US" sz="1400" dirty="0">
                <a:solidFill>
                  <a:srgbClr val="A84B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api-pedidos.jar</a:t>
            </a: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a forma física do componente lógico “Pedidos”. Na notação, é uma seta tracejada com o estereótipo «manifest».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50" kern="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NOTAÇÃO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59182"/>
            <a:ext cx="10883392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caminho de comunicação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19150" y="2292986"/>
            <a:ext cx="1828800" cy="749300"/>
          </a:xfrm>
          <a:prstGeom prst="roundRect">
            <a:avLst>
              <a:gd name="adj" fmla="val 5932"/>
            </a:avLst>
          </a:prstGeom>
          <a:solidFill>
            <a:srgbClr val="FCFCFA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7260" y="2411096"/>
            <a:ext cx="164338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«device»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7260" y="2644775"/>
            <a:ext cx="16433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Notebook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30650" y="2292986"/>
            <a:ext cx="1828800" cy="749300"/>
          </a:xfrm>
          <a:prstGeom prst="roundRect">
            <a:avLst>
              <a:gd name="adj" fmla="val 5932"/>
            </a:avLst>
          </a:prstGeom>
          <a:solidFill>
            <a:srgbClr val="FCFCFA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48760" y="2411096"/>
            <a:ext cx="164338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«device»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48760" y="2644775"/>
            <a:ext cx="16433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Servidor Web</a:t>
            </a:r>
            <a:endParaRPr lang="en-US" sz="1500" dirty="0"/>
          </a:p>
        </p:txBody>
      </p:sp>
      <p:pic>
        <p:nvPicPr>
          <p:cNvPr id="10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03500" y="2616836"/>
            <a:ext cx="1371600" cy="10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79700" y="2388236"/>
            <a:ext cx="12192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«HTTPS»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05100" y="2743836"/>
            <a:ext cx="5588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957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1..*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56000" y="2743836"/>
            <a:ext cx="3175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957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70600" y="1715136"/>
            <a:ext cx="546785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linha é sólida e não tem seta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70600" y="2019936"/>
            <a:ext cx="546785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caminho de comunicação é bidirecional: diz que os dois nós conversam, não quem chama quem.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70600" y="2670175"/>
            <a:ext cx="546785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estereótipo diz o protocolo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70600" y="2974975"/>
            <a:ext cx="546785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«HTTPS», «TCP/IP», «JDBC», «AMQP». Sem ele, a linha só informa que existe rede ali.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70600" y="3625214"/>
            <a:ext cx="546785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multiplicidade diz a escala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070600" y="3930014"/>
            <a:ext cx="546785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1..* notebooks para 1 servidor. É nesse número que aparecem gargalo e ponto único de falha.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12800" y="4631057"/>
            <a:ext cx="10566400" cy="1145540"/>
          </a:xfrm>
          <a:prstGeom prst="roundRect">
            <a:avLst>
              <a:gd name="adj" fmla="val 5543"/>
            </a:avLst>
          </a:prstGeom>
          <a:solidFill>
            <a:srgbClr val="EDEEE9"/>
          </a:solidFill>
          <a:ln/>
        </p:spPr>
      </p:sp>
      <p:sp>
        <p:nvSpPr>
          <p:cNvPr id="21" name="Shape 18"/>
          <p:cNvSpPr/>
          <p:nvPr/>
        </p:nvSpPr>
        <p:spPr>
          <a:xfrm>
            <a:off x="831850" y="4631057"/>
            <a:ext cx="0" cy="1145540"/>
          </a:xfrm>
          <a:prstGeom prst="line">
            <a:avLst/>
          </a:prstGeom>
          <a:noFill/>
          <a:ln w="38100">
            <a:solidFill>
              <a:srgbClr val="A84B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4796157"/>
            <a:ext cx="1042817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quando a seta é tracejada?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51560" y="5113657"/>
            <a:ext cx="1042817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Aí não é comunicação, é dependência. Com «deploy», ela liga um artefato ao nó em que ele é instalado — a alternativa a desenhar o artefato dentro da caixa.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97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3"/>
              </a:lnSpc>
              <a:buNone/>
            </a:pPr>
            <a:r>
              <a:rPr lang="en-US" sz="1144" spc="150" kern="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NOTAÇÃO</a:t>
            </a:r>
            <a:endParaRPr lang="en-US" sz="1144" dirty="0"/>
          </a:p>
        </p:txBody>
      </p:sp>
      <p:sp>
        <p:nvSpPr>
          <p:cNvPr id="3" name="Text 1"/>
          <p:cNvSpPr/>
          <p:nvPr/>
        </p:nvSpPr>
        <p:spPr>
          <a:xfrm>
            <a:off x="812800" y="1048782"/>
            <a:ext cx="10883392" cy="452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4"/>
              </a:lnSpc>
              <a:buNone/>
            </a:pPr>
            <a:r>
              <a:rPr lang="en-US" sz="2926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Quadro-resumo dos símbolos</a:t>
            </a:r>
            <a:endParaRPr lang="en-US" sz="2926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04339"/>
          <a:ext cx="10566400" cy="3591243"/>
        </p:xfrm>
        <a:graphic>
          <a:graphicData uri="http://schemas.openxmlformats.org/drawingml/2006/table">
            <a:tbl>
              <a:tblPr/>
              <a:tblGrid>
                <a:gridCol w="2747264"/>
                <a:gridCol w="3803904"/>
                <a:gridCol w="4015232"/>
              </a:tblGrid>
              <a:tr h="448866"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b="1" dirty="0">
                          <a:solidFill>
                            <a:srgbClr val="F5F6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Símbolo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b="1" dirty="0">
                          <a:solidFill>
                            <a:srgbClr val="F5F6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que representa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b="1" dirty="0">
                          <a:solidFill>
                            <a:srgbClr val="F5F6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Exemplo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1F6F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Caixa com «device»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Recurso de computação físico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Servidor AWS, smartphone, roteador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1F6F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Caixa com «executionEnvironment»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Software que hospeda e executa artefatos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JVM, Docker, PostgreSQL, navegador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F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1F6F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Caixa com «artifact»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arquivo instalado dentro do nó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api.jar, app.apk, schema.sql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1F6F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Caixa dentro de caixa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Aninhamento: um nó roda dentro de outro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Docker dentro do servidor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F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1F6F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Linha sólida, sem seta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Caminho de comunicação entre dois nós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«HTTPS», «JDBC», «TCP/IP»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1F6F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· 1..* · 0..1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Multiplicidade: quantas instâncias do nó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servidor para 1..* celulares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F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1F6F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Seta tracejada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Dependência: «deploy» ou «manifest»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29"/>
                        </a:lnSpc>
                        <a:buNone/>
                      </a:pPr>
                      <a:r>
                        <a:rPr lang="en-US" sz="1235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api.jar «manifest» componente Pedidos</a:t>
                      </a:r>
                      <a:endParaRPr lang="en-US" sz="123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539426"/>
            <a:ext cx="10883392" cy="531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8"/>
              </a:lnSpc>
              <a:buNone/>
            </a:pPr>
            <a:r>
              <a:rPr lang="en-US" sz="1434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Três elementos e uma linha. Quem guardar </a:t>
            </a:r>
            <a:r>
              <a:rPr lang="en-US" sz="1434" b="1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nó</a:t>
            </a:r>
            <a:r>
              <a:rPr lang="en-US" sz="1434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434" b="1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artefato</a:t>
            </a:r>
            <a:r>
              <a:rPr lang="en-US" sz="1434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</a:t>
            </a:r>
            <a:r>
              <a:rPr lang="en-US" sz="1434" b="1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caminho de comunicação</a:t>
            </a:r>
            <a:r>
              <a:rPr lang="en-US" sz="1434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já consegue ler qualquer diagrama de implantação.</a:t>
            </a:r>
            <a:endParaRPr lang="en-US" sz="14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50" kern="0" dirty="0">
                <a:solidFill>
                  <a:srgbClr val="5FC0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EXEMPLO AUTORAL DO GRUPO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59179"/>
            <a:ext cx="10883392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FametroFood, um app de delivery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12800" y="1575439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 fictício que criamos para o exemplo. Primeiro o domínio; no slide seguinte, onde cada parte dele roda.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117092"/>
            <a:ext cx="2520950" cy="1626235"/>
          </a:xfrm>
          <a:prstGeom prst="roundRect">
            <a:avLst>
              <a:gd name="adj" fmla="val 5271"/>
            </a:avLst>
          </a:prstGeom>
          <a:solidFill>
            <a:srgbClr val="16293B"/>
          </a:solidFill>
          <a:ln w="6350">
            <a:solidFill>
              <a:srgbClr val="2A42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5680" y="2296796"/>
            <a:ext cx="222638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00" kern="0" dirty="0">
                <a:solidFill>
                  <a:srgbClr val="5FC0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5680" y="2555875"/>
            <a:ext cx="222638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Pede pelo celular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5680" y="2870200"/>
            <a:ext cx="222638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Escolhe o restaurante, monta o pedido, paga e acompanha a entrega.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95675" y="2117092"/>
            <a:ext cx="2520950" cy="1626235"/>
          </a:xfrm>
          <a:prstGeom prst="roundRect">
            <a:avLst>
              <a:gd name="adj" fmla="val 5271"/>
            </a:avLst>
          </a:prstGeom>
          <a:solidFill>
            <a:srgbClr val="16293B"/>
          </a:solidFill>
          <a:ln w="6350">
            <a:solidFill>
              <a:srgbClr val="2A42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380" y="2296796"/>
            <a:ext cx="222638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00" kern="0" dirty="0">
                <a:solidFill>
                  <a:srgbClr val="5FC0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RESTAURANTE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75380" y="2555875"/>
            <a:ext cx="222638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Recebe num painel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75380" y="2870200"/>
            <a:ext cx="222638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Vê os pedidos chegando em tempo real num tablet, sem instalar nada.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5375" y="2117092"/>
            <a:ext cx="2520950" cy="1626235"/>
          </a:xfrm>
          <a:prstGeom prst="roundRect">
            <a:avLst>
              <a:gd name="adj" fmla="val 5271"/>
            </a:avLst>
          </a:prstGeom>
          <a:solidFill>
            <a:srgbClr val="16293B"/>
          </a:solidFill>
          <a:ln w="6350">
            <a:solidFill>
              <a:srgbClr val="2A42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296796"/>
            <a:ext cx="222638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00" kern="0" dirty="0">
                <a:solidFill>
                  <a:srgbClr val="5FC0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PLATAFORMA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555875"/>
            <a:ext cx="222638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Orquestra tudo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2870200"/>
            <a:ext cx="222638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API central que guarda pedidos, valida usuários e avisa o restaurante.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55075" y="2117092"/>
            <a:ext cx="2520950" cy="1626235"/>
          </a:xfrm>
          <a:prstGeom prst="roundRect">
            <a:avLst>
              <a:gd name="adj" fmla="val 5271"/>
            </a:avLst>
          </a:prstGeom>
          <a:solidFill>
            <a:srgbClr val="16293B"/>
          </a:solidFill>
          <a:ln w="6350">
            <a:solidFill>
              <a:srgbClr val="2A42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4780" y="2296796"/>
            <a:ext cx="222638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00" kern="0" dirty="0">
                <a:solidFill>
                  <a:srgbClr val="5FC0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PAGAMENTO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34780" y="2555875"/>
            <a:ext cx="222638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Fica fora de casa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34780" y="2870200"/>
            <a:ext cx="222638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cobrança é feita por um serviço externo, via PIX ou cartão.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68721"/>
            <a:ext cx="812305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Quatro papéis no domínio. A pergunta do diagrama de implantação é outra: em quais máquinas cada um deles vive?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FametroFood — diagrama de implantação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19150" y="1416689"/>
            <a:ext cx="2527300" cy="2006600"/>
          </a:xfrm>
          <a:prstGeom prst="roundRect">
            <a:avLst>
              <a:gd name="adj" fmla="val 2848"/>
            </a:avLst>
          </a:prstGeom>
          <a:solidFill>
            <a:srgbClr val="FCFCFA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7260" y="1534796"/>
            <a:ext cx="7823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«device»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62580" y="1534796"/>
            <a:ext cx="41656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1..*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7260" y="1781175"/>
            <a:ext cx="23598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Smartphone do cliente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40435" y="2061214"/>
            <a:ext cx="2284730" cy="1116330"/>
          </a:xfrm>
          <a:prstGeom prst="roundRect">
            <a:avLst>
              <a:gd name="adj" fmla="val 3129"/>
            </a:avLst>
          </a:prstGeom>
          <a:solidFill>
            <a:srgbClr val="EDEEE9"/>
          </a:solidFill>
          <a:ln w="6350">
            <a:solidFill>
              <a:srgbClr val="8E9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8540" y="2139317"/>
            <a:ext cx="219237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«executionEnvironment»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8540" y="2360296"/>
            <a:ext cx="219237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Android 14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21715" y="2599692"/>
            <a:ext cx="2122170" cy="496570"/>
          </a:xfrm>
          <a:prstGeom prst="roundRect">
            <a:avLst>
              <a:gd name="adj" fmla="val 5754"/>
            </a:avLst>
          </a:prstGeom>
          <a:solidFill>
            <a:srgbClr val="FCFCFA"/>
          </a:solidFill>
          <a:ln w="6350">
            <a:solidFill>
              <a:srgbClr val="BFC4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4420" y="2652396"/>
            <a:ext cx="2077263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«artifact»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4420" y="2860675"/>
            <a:ext cx="2077263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F1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FametroFood.apk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150" y="3664589"/>
            <a:ext cx="2527300" cy="2006600"/>
          </a:xfrm>
          <a:prstGeom prst="roundRect">
            <a:avLst>
              <a:gd name="adj" fmla="val 2848"/>
            </a:avLst>
          </a:prstGeom>
          <a:solidFill>
            <a:srgbClr val="FCFCFA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" y="3782696"/>
            <a:ext cx="7823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«device»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62580" y="3782696"/>
            <a:ext cx="41656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1..*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7260" y="4029075"/>
            <a:ext cx="23598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Tablet do restaurante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40435" y="4309114"/>
            <a:ext cx="2284730" cy="1116330"/>
          </a:xfrm>
          <a:prstGeom prst="roundRect">
            <a:avLst>
              <a:gd name="adj" fmla="val 3129"/>
            </a:avLst>
          </a:prstGeom>
          <a:solidFill>
            <a:srgbClr val="EDEEE9"/>
          </a:solidFill>
          <a:ln w="6350">
            <a:solidFill>
              <a:srgbClr val="8E9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8540" y="4387217"/>
            <a:ext cx="219237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«executionEnvironment»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18540" y="4608196"/>
            <a:ext cx="219237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Navegador Chrome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21715" y="4847592"/>
            <a:ext cx="2122170" cy="496570"/>
          </a:xfrm>
          <a:prstGeom prst="roundRect">
            <a:avLst>
              <a:gd name="adj" fmla="val 5754"/>
            </a:avLst>
          </a:prstGeom>
          <a:solidFill>
            <a:srgbClr val="FCFCFA"/>
          </a:solidFill>
          <a:ln w="6350">
            <a:solidFill>
              <a:srgbClr val="BFC4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4420" y="4900296"/>
            <a:ext cx="2077263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«artifact»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4420" y="5108575"/>
            <a:ext cx="2077263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F1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painel-web.js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32325" y="2035814"/>
            <a:ext cx="2927350" cy="2901950"/>
          </a:xfrm>
          <a:prstGeom prst="roundRect">
            <a:avLst>
              <a:gd name="adj" fmla="val 1860"/>
            </a:avLst>
          </a:prstGeom>
          <a:solidFill>
            <a:srgbClr val="FCFCFA"/>
          </a:solidFill>
          <a:ln w="19050">
            <a:solidFill>
              <a:srgbClr val="1F6F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2340" y="2155825"/>
            <a:ext cx="7823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«device»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48220" y="2155825"/>
            <a:ext cx="142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2340" y="2402204"/>
            <a:ext cx="27679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Servidor de Aplicação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2340" y="2679067"/>
            <a:ext cx="27679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EC2 · t3.medium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5515" y="2928621"/>
            <a:ext cx="2680970" cy="1657350"/>
          </a:xfrm>
          <a:prstGeom prst="roundRect">
            <a:avLst>
              <a:gd name="adj" fmla="val 2107"/>
            </a:avLst>
          </a:prstGeom>
          <a:solidFill>
            <a:srgbClr val="EDEEE9"/>
          </a:solidFill>
          <a:ln w="6350">
            <a:solidFill>
              <a:srgbClr val="8E9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3620" y="3006725"/>
            <a:ext cx="2600503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«executionEnvironment»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33620" y="3227704"/>
            <a:ext cx="2600503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JVM 17 + Spring Boot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36795" y="3467100"/>
            <a:ext cx="2518410" cy="496570"/>
          </a:xfrm>
          <a:prstGeom prst="roundRect">
            <a:avLst>
              <a:gd name="adj" fmla="val 5754"/>
            </a:avLst>
          </a:prstGeom>
          <a:solidFill>
            <a:srgbClr val="FCFCFA"/>
          </a:solidFill>
          <a:ln w="6350">
            <a:solidFill>
              <a:srgbClr val="BFC4B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9500" y="3519804"/>
            <a:ext cx="248539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«artifact»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89500" y="3728089"/>
            <a:ext cx="248539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F1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api-pedidos.jar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36795" y="4008121"/>
            <a:ext cx="2518410" cy="496570"/>
          </a:xfrm>
          <a:prstGeom prst="roundRect">
            <a:avLst>
              <a:gd name="adj" fmla="val 5754"/>
            </a:avLst>
          </a:prstGeom>
          <a:solidFill>
            <a:srgbClr val="FCFCFA"/>
          </a:solidFill>
          <a:ln w="6350">
            <a:solidFill>
              <a:srgbClr val="BFC4B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9500" y="4060825"/>
            <a:ext cx="248539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«artifact»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89500" y="4269104"/>
            <a:ext cx="248539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F1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auth-service.jar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845550" y="1416689"/>
            <a:ext cx="2527300" cy="2006600"/>
          </a:xfrm>
          <a:prstGeom prst="roundRect">
            <a:avLst>
              <a:gd name="adj" fmla="val 2848"/>
            </a:avLst>
          </a:prstGeom>
          <a:solidFill>
            <a:srgbClr val="FCFCFA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3660" y="1534796"/>
            <a:ext cx="7823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«device»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163300" y="1534796"/>
            <a:ext cx="142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963660" y="1781175"/>
            <a:ext cx="23598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Servidor de banco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966835" y="2061214"/>
            <a:ext cx="2284730" cy="1116330"/>
          </a:xfrm>
          <a:prstGeom prst="roundRect">
            <a:avLst>
              <a:gd name="adj" fmla="val 3129"/>
            </a:avLst>
          </a:prstGeom>
          <a:solidFill>
            <a:srgbClr val="EDEEE9"/>
          </a:solidFill>
          <a:ln w="6350">
            <a:solidFill>
              <a:srgbClr val="8E9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44940" y="2139317"/>
            <a:ext cx="219237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«executionEnvironment»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044940" y="2360296"/>
            <a:ext cx="219237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048115" y="2599692"/>
            <a:ext cx="2122170" cy="496570"/>
          </a:xfrm>
          <a:prstGeom prst="roundRect">
            <a:avLst>
              <a:gd name="adj" fmla="val 5754"/>
            </a:avLst>
          </a:prstGeom>
          <a:solidFill>
            <a:srgbClr val="FCFCFA"/>
          </a:solidFill>
          <a:ln w="6350">
            <a:solidFill>
              <a:srgbClr val="BFC4B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00820" y="2652396"/>
            <a:ext cx="2077263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«artifact»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00820" y="2860675"/>
            <a:ext cx="2077263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F1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schema-pedidos.sql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845550" y="4039239"/>
            <a:ext cx="2527300" cy="1257300"/>
          </a:xfrm>
          <a:prstGeom prst="roundRect">
            <a:avLst>
              <a:gd name="adj" fmla="val 4545"/>
            </a:avLst>
          </a:prstGeom>
          <a:solidFill>
            <a:srgbClr val="EDEEE9"/>
          </a:solidFill>
          <a:ln w="12700">
            <a:solidFill>
              <a:srgbClr val="6A7179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8963660" y="4157346"/>
            <a:ext cx="7823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«device»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163300" y="4157346"/>
            <a:ext cx="142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963660" y="4403725"/>
            <a:ext cx="23598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Gateway de Pagamento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963660" y="4680589"/>
            <a:ext cx="2359813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Serviço externo de terceiros · PIX e cartão</a:t>
            </a:r>
            <a:endParaRPr lang="en-US" sz="1200" dirty="0"/>
          </a:p>
        </p:txBody>
      </p:sp>
      <p:pic>
        <p:nvPicPr>
          <p:cNvPr id="52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02000" y="2369189"/>
            <a:ext cx="1371600" cy="101600"/>
          </a:xfrm>
          <a:prstGeom prst="rect">
            <a:avLst/>
          </a:prstGeom>
        </p:spPr>
      </p:pic>
      <p:pic>
        <p:nvPicPr>
          <p:cNvPr id="53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02000" y="4617089"/>
            <a:ext cx="1371600" cy="101600"/>
          </a:xfrm>
          <a:prstGeom prst="rect">
            <a:avLst/>
          </a:prstGeom>
        </p:spPr>
      </p:pic>
      <p:pic>
        <p:nvPicPr>
          <p:cNvPr id="54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18400" y="2369189"/>
            <a:ext cx="1371600" cy="101600"/>
          </a:xfrm>
          <a:prstGeom prst="rect">
            <a:avLst/>
          </a:prstGeom>
        </p:spPr>
      </p:pic>
      <p:pic>
        <p:nvPicPr>
          <p:cNvPr id="55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18400" y="4617089"/>
            <a:ext cx="1371600" cy="101600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3378200" y="2146939"/>
            <a:ext cx="12192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«HTTPS/REST»</a:t>
            </a:r>
            <a:endParaRPr lang="en-US" sz="1200" dirty="0"/>
          </a:p>
        </p:txBody>
      </p:sp>
      <p:sp>
        <p:nvSpPr>
          <p:cNvPr id="57" name="Text 51"/>
          <p:cNvSpPr/>
          <p:nvPr/>
        </p:nvSpPr>
        <p:spPr>
          <a:xfrm>
            <a:off x="3378200" y="4394839"/>
            <a:ext cx="12192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«WebSocket»</a:t>
            </a:r>
            <a:endParaRPr lang="en-US" sz="1200" dirty="0"/>
          </a:p>
        </p:txBody>
      </p:sp>
      <p:sp>
        <p:nvSpPr>
          <p:cNvPr id="58" name="Text 52"/>
          <p:cNvSpPr/>
          <p:nvPr/>
        </p:nvSpPr>
        <p:spPr>
          <a:xfrm>
            <a:off x="7594600" y="2146939"/>
            <a:ext cx="12192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«JDBC/TCP»</a:t>
            </a:r>
            <a:endParaRPr lang="en-US" sz="1200" dirty="0"/>
          </a:p>
        </p:txBody>
      </p:sp>
      <p:sp>
        <p:nvSpPr>
          <p:cNvPr id="59" name="Text 53"/>
          <p:cNvSpPr/>
          <p:nvPr/>
        </p:nvSpPr>
        <p:spPr>
          <a:xfrm>
            <a:off x="7594600" y="4394839"/>
            <a:ext cx="12192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«HTTPS»</a:t>
            </a:r>
            <a:endParaRPr lang="en-US" sz="1200" dirty="0"/>
          </a:p>
        </p:txBody>
      </p:sp>
      <p:sp>
        <p:nvSpPr>
          <p:cNvPr id="60" name="Text 54"/>
          <p:cNvSpPr/>
          <p:nvPr/>
        </p:nvSpPr>
        <p:spPr>
          <a:xfrm>
            <a:off x="812800" y="6268721"/>
            <a:ext cx="574771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autoral do grupo · FametroFood é um sistema fictício · Notação UML 2.5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50" kern="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COMO 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59179"/>
            <a:ext cx="10883392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Quatro passos para ler qualquer um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15975" y="1769114"/>
            <a:ext cx="2520950" cy="1872615"/>
          </a:xfrm>
          <a:prstGeom prst="roundRect">
            <a:avLst>
              <a:gd name="adj" fmla="val 4578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48817"/>
            <a:ext cx="222638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5680" y="2223139"/>
            <a:ext cx="222638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 os nós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5680" y="2537464"/>
            <a:ext cx="2226386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Cinco máquinas: dois clientes, um servidor de aplicação, um banco e um serviço externo.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5675" y="1769114"/>
            <a:ext cx="2520950" cy="1872615"/>
          </a:xfrm>
          <a:prstGeom prst="roundRect">
            <a:avLst>
              <a:gd name="adj" fmla="val 4578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380" y="1948817"/>
            <a:ext cx="222638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75380" y="2223139"/>
            <a:ext cx="222638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Desça um nível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75380" y="2537464"/>
            <a:ext cx="2226386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Dentro de cada caixa há um ambiente de execução: Android, navegador, JVM, PostgreSQL.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5375" y="1769114"/>
            <a:ext cx="2520950" cy="1872615"/>
          </a:xfrm>
          <a:prstGeom prst="roundRect">
            <a:avLst>
              <a:gd name="adj" fmla="val 4578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48817"/>
            <a:ext cx="222638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223139"/>
            <a:ext cx="222638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Veja o que é instalado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537464"/>
            <a:ext cx="222638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artefatos são arquivos reais: .apk no celular, .jar no servidor, .sql no banco.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5075" y="1769114"/>
            <a:ext cx="2520950" cy="1872615"/>
          </a:xfrm>
          <a:prstGeom prst="roundRect">
            <a:avLst>
              <a:gd name="adj" fmla="val 4578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780" y="1948817"/>
            <a:ext cx="222638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34780" y="2223139"/>
            <a:ext cx="222638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Siga as linhas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34780" y="2537464"/>
            <a:ext cx="2226386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Nenhum cliente fala direto com o banco: toda comunicação passa pelo servidor de aplicação.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800" y="3898900"/>
            <a:ext cx="10566400" cy="1572260"/>
          </a:xfrm>
          <a:prstGeom prst="roundRect">
            <a:avLst>
              <a:gd name="adj" fmla="val 5654"/>
            </a:avLst>
          </a:prstGeom>
          <a:solidFill>
            <a:srgbClr val="0F1E2E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4102100"/>
            <a:ext cx="104648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00" kern="0" dirty="0">
                <a:solidFill>
                  <a:srgbClr val="5FC0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QUE O DIAGRAMA ENTREGA DE GRAÇA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16000" y="4361179"/>
            <a:ext cx="10464800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multiplicidades dizem </a:t>
            </a:r>
            <a:r>
              <a:rPr lang="en-US" sz="17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1..*</a:t>
            </a:r>
            <a:r>
              <a:rPr lang="en-US" sz="17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clientes para </a:t>
            </a:r>
            <a:r>
              <a:rPr lang="en-US" sz="17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r>
              <a:rPr lang="en-US" sz="17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servidor de aplicação. Ou seja: aquele servidor é um </a:t>
            </a:r>
            <a:r>
              <a:rPr lang="en-US" sz="17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ponto único de falha</a:t>
            </a:r>
            <a:r>
              <a:rPr lang="en-US" sz="17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se ele cair, o app inteiro para. Essa conversa sobre redundância nasce ao desenhar o diagrama, não depois do sistema no ar.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50" kern="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COMPARAÇÃO RÁPIDA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59179"/>
            <a:ext cx="10883392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ele se encaixa entre os da aula</a:t>
            </a:r>
            <a:endParaRPr lang="en-US" sz="3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40539"/>
          <a:ext cx="10566400" cy="2687320"/>
        </p:xfrm>
        <a:graphic>
          <a:graphicData uri="http://schemas.openxmlformats.org/drawingml/2006/table">
            <a:tbl>
              <a:tblPr/>
              <a:tblGrid>
                <a:gridCol w="1901952"/>
                <a:gridCol w="3592576"/>
                <a:gridCol w="2113280"/>
                <a:gridCol w="2958592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6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Diagrama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6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Pergunta que responde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6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Tipo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6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que aparece nele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Caso de Uso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Quem usa o sistema e para quê?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Comportamental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Atores e funcionalidades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Classe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Como os dados se organizam?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Estrutural (lógico)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Classes, atributos, relações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F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Sequência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 que ordem as mensagens acontecem?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Comportamental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9576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Objetos e mensagens no tempo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Implantação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Onde o software roda de verdade?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Estrutural (físico)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Nós, artefatos e conexões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DE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4671696"/>
            <a:ext cx="5194300" cy="1325245"/>
          </a:xfrm>
          <a:prstGeom prst="roundRect">
            <a:avLst>
              <a:gd name="adj" fmla="val 4792"/>
            </a:avLst>
          </a:prstGeom>
          <a:solidFill>
            <a:srgbClr val="FCFCFA"/>
          </a:solidFill>
          <a:ln/>
        </p:spPr>
      </p:sp>
      <p:sp>
        <p:nvSpPr>
          <p:cNvPr id="6" name="Shape 3"/>
          <p:cNvSpPr/>
          <p:nvPr/>
        </p:nvSpPr>
        <p:spPr>
          <a:xfrm>
            <a:off x="831850" y="4671696"/>
            <a:ext cx="0" cy="1325245"/>
          </a:xfrm>
          <a:prstGeom prst="line">
            <a:avLst/>
          </a:prstGeom>
          <a:noFill/>
          <a:ln w="38100">
            <a:solidFill>
              <a:srgbClr val="1F6F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8860" y="4836796"/>
            <a:ext cx="4921072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que se parece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38860" y="5138421"/>
            <a:ext cx="492107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o de Classe, é estrutural e estático: mostra uma fotografia, não uma linha do tempo. E usa a mesma gramática de caixas, linhas, estereótipos e multiplicidade.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84900" y="4671696"/>
            <a:ext cx="5194300" cy="1325245"/>
          </a:xfrm>
          <a:prstGeom prst="roundRect">
            <a:avLst>
              <a:gd name="adj" fmla="val 4792"/>
            </a:avLst>
          </a:prstGeom>
          <a:solidFill>
            <a:srgbClr val="FCFCFA"/>
          </a:solidFill>
          <a:ln/>
        </p:spPr>
      </p:sp>
      <p:sp>
        <p:nvSpPr>
          <p:cNvPr id="10" name="Shape 7"/>
          <p:cNvSpPr/>
          <p:nvPr/>
        </p:nvSpPr>
        <p:spPr>
          <a:xfrm>
            <a:off x="6203950" y="4671696"/>
            <a:ext cx="0" cy="1325245"/>
          </a:xfrm>
          <a:prstGeom prst="line">
            <a:avLst/>
          </a:prstGeom>
          <a:noFill/>
          <a:ln w="38100">
            <a:solidFill>
              <a:srgbClr val="A84B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0960" y="4836796"/>
            <a:ext cx="4921072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que se diferencia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10960" y="5138421"/>
            <a:ext cx="492107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caixas não são conceitos do software: são máquinas e arquivos. É o único que sai do mundo lógico e fala de hardware, rede e infraestrutura.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150" kern="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A CONFUSÃO MAIS COMUM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59179"/>
            <a:ext cx="10883392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31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Componentes não é Implantação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15975" y="1743714"/>
            <a:ext cx="5175250" cy="1254125"/>
          </a:xfrm>
          <a:prstGeom prst="roundRect">
            <a:avLst>
              <a:gd name="adj" fmla="val 6835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48817"/>
            <a:ext cx="490799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de Componentes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1080" y="2294892"/>
            <a:ext cx="490799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peças </a:t>
            </a:r>
            <a:r>
              <a:rPr lang="en-US" sz="1400" b="1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lógicas</a:t>
            </a: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software e as interfaces entre elas. Responde: </a:t>
            </a:r>
            <a:r>
              <a:rPr lang="en-US" sz="1400" i="1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que módulos o sistema é feito?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743714"/>
            <a:ext cx="5175250" cy="1254125"/>
          </a:xfrm>
          <a:prstGeom prst="roundRect">
            <a:avLst>
              <a:gd name="adj" fmla="val 6835"/>
            </a:avLst>
          </a:prstGeom>
          <a:solidFill>
            <a:srgbClr val="FCFCFA"/>
          </a:solidFill>
          <a:ln w="6350">
            <a:solidFill>
              <a:srgbClr val="DEE1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5880" y="1948817"/>
            <a:ext cx="490799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de Implantação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5880" y="2294892"/>
            <a:ext cx="490799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máquinas </a:t>
            </a:r>
            <a:r>
              <a:rPr lang="en-US" sz="1400" b="1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físicas</a:t>
            </a:r>
            <a:r>
              <a:rPr lang="en-US" sz="1400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os arquivos instalados nelas. Responde: </a:t>
            </a:r>
            <a:r>
              <a:rPr lang="en-US" sz="1400" i="1" dirty="0">
                <a:solidFill>
                  <a:srgbClr val="4957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esses módulos rodam?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9150" y="3241042"/>
            <a:ext cx="2701687" cy="708660"/>
          </a:xfrm>
          <a:prstGeom prst="roundRect">
            <a:avLst>
              <a:gd name="adj" fmla="val 6272"/>
            </a:avLst>
          </a:prstGeom>
          <a:solidFill>
            <a:srgbClr val="FCFCFA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9960" y="3371850"/>
            <a:ext cx="2513269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«component»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9960" y="3605529"/>
            <a:ext cx="25132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73237" y="3427729"/>
            <a:ext cx="9652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«manifest»</a:t>
            </a:r>
            <a:endParaRPr lang="en-US" sz="1200" dirty="0"/>
          </a:p>
        </p:txBody>
      </p:sp>
      <p:pic>
        <p:nvPicPr>
          <p:cNvPr id="1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4187" y="3661414"/>
            <a:ext cx="952500" cy="101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740037" y="3241042"/>
            <a:ext cx="2701766" cy="708660"/>
          </a:xfrm>
          <a:prstGeom prst="roundRect">
            <a:avLst>
              <a:gd name="adj" fmla="val 6272"/>
            </a:avLst>
          </a:prstGeom>
          <a:solidFill>
            <a:srgbClr val="FCFCFA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70847" y="3371850"/>
            <a:ext cx="2513351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«artifact»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70847" y="3605529"/>
            <a:ext cx="25133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F1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api-pedidos.jar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685643" y="3427729"/>
            <a:ext cx="7823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4B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«deploy»</a:t>
            </a:r>
            <a:endParaRPr lang="en-US" sz="1200" dirty="0"/>
          </a:p>
        </p:txBody>
      </p:sp>
      <p:pic>
        <p:nvPicPr>
          <p:cNvPr id="1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75153" y="3661414"/>
            <a:ext cx="952500" cy="1016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664178" y="3239139"/>
            <a:ext cx="2705497" cy="712470"/>
          </a:xfrm>
          <a:prstGeom prst="roundRect">
            <a:avLst>
              <a:gd name="adj" fmla="val 5793"/>
            </a:avLst>
          </a:prstGeom>
          <a:solidFill>
            <a:srgbClr val="FCFCFA"/>
          </a:solidFill>
          <a:ln w="19050">
            <a:solidFill>
              <a:srgbClr val="1F6F6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796893" y="3371850"/>
            <a:ext cx="2513269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F6F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«device»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796893" y="3605529"/>
            <a:ext cx="25132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Servidor de Aplicação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12800" y="6268721"/>
            <a:ext cx="6400534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dois diagramas se encontram no artefato: ele é a forma física de um componente lógico.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200" kern="0" dirty="0">
                <a:solidFill>
                  <a:srgbClr val="5FC0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LEVAR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98879"/>
            <a:ext cx="10883392" cy="507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diagrama, uma pergunta: onde o software roda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12800" y="1884046"/>
            <a:ext cx="350570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FC0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158367"/>
            <a:ext cx="35057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São três elementos: </a:t>
            </a:r>
            <a:r>
              <a:rPr lang="en-US" sz="15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nó</a:t>
            </a:r>
            <a:r>
              <a:rPr lang="en-US" sz="15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5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artefato</a:t>
            </a:r>
            <a:r>
              <a:rPr lang="en-US" sz="15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</a:t>
            </a:r>
            <a:r>
              <a:rPr lang="en-US" sz="15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caminho de comunicação</a:t>
            </a:r>
            <a:r>
              <a:rPr lang="en-US" sz="15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O resto é detalhe.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94200" y="1884046"/>
            <a:ext cx="350570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FC0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94200" y="2158367"/>
            <a:ext cx="35057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estrutural e físico: </a:t>
            </a:r>
            <a:r>
              <a:rPr lang="en-US" sz="15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complementa</a:t>
            </a:r>
            <a:r>
              <a:rPr lang="en-US" sz="15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Classe e Componentes, não substitui nenhum deles.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75600" y="1884046"/>
            <a:ext cx="350570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FC0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75600" y="2158367"/>
            <a:ext cx="35057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no </a:t>
            </a:r>
            <a:r>
              <a:rPr lang="en-US" sz="1500" b="1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projeto da arquitetura</a:t>
            </a:r>
            <a:r>
              <a:rPr lang="en-US" sz="1500" dirty="0">
                <a:solidFill>
                  <a:srgbClr val="F5F6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sobrevive como documentação da operação.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5636264"/>
            <a:ext cx="190369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5FC0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Perguntas?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782175" y="5796279"/>
            <a:ext cx="1597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Duda · João · Lucas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Implantação (UML)</dc:title>
  <dc:subject>PptxGenJS Presentation</dc:subject>
  <dc:creator>PptxGenJS</dc:creator>
  <cp:lastModifiedBy>PptxGenJS</cp:lastModifiedBy>
  <cp:revision>1</cp:revision>
  <dcterms:created xsi:type="dcterms:W3CDTF">2026-09-21T22:46:11Z</dcterms:created>
  <dcterms:modified xsi:type="dcterms:W3CDTF">2026-09-21T22:46:11Z</dcterms:modified>
</cp:coreProperties>
</file>